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70" r:id="rId14"/>
    <p:sldId id="276" r:id="rId15"/>
    <p:sldId id="277" r:id="rId16"/>
    <p:sldId id="274" r:id="rId17"/>
    <p:sldId id="275" r:id="rId18"/>
    <p:sldId id="269" r:id="rId19"/>
    <p:sldId id="271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DA"/>
    <a:srgbClr val="FFFFBF"/>
    <a:srgbClr val="FFFACD"/>
    <a:srgbClr val="FFFCF3"/>
    <a:srgbClr val="FFFEFB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22D-DE99-A5B4-CB90-57D231081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5D91E-01AE-10B6-B61E-4B14AEDA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485CE-B7B1-0E4E-5DE7-8F6A81F0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B3CE2-2675-39D1-E8D3-00C60BE0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0733-57B5-CD49-69F8-9218EF73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1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263E-49E7-DD5F-C3A4-D0E2DDB2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B0D3-C7B7-7CFA-E107-2FC2CF8AD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FCA69-0547-DD60-0388-05031465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ED5D-E2B2-C06F-1BC4-C7347464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01678-9038-454F-47BA-A358BE77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86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1FAC-BEF3-1BDD-99A4-DE15BA06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7511-AFB4-393C-6175-95BCA78FE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55126-6508-D202-7327-FE65D0D2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1A81A-EEB4-D55C-9F4C-FBF60C16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B1EF0-5E0A-216A-6A34-1162B994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37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8B6C-D464-484C-0459-50616696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4998-464E-B951-40C5-073382EFF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4A4C7-7D13-3A48-4EC7-62AD96658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72BE6-ECA5-0369-682E-2442FE97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A5A31-DD1B-F95B-5BF7-D9C8E7B3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0926-0B46-9DC9-846A-B3C5CA9E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5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8D4C-9726-A4BB-DC9D-C1A12B65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21E5-BCDE-47A3-F159-A88D83189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6F82-453B-3815-F410-827BFD880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ACA1C-0C45-C951-0B8D-C5CEA4CD9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F2D0F-770A-6142-5C0B-33E3C245A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9AE58-0B99-A799-2424-1A49B2AE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AA2A6-7C65-8A7D-59F4-8988DAD4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A7A64-36E6-A5D8-A377-BF5BEECD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037F-61E2-8B93-9C61-BACFEFCB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8F090-D5D2-22CC-79AE-E570CD1E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AD8A4-5E4B-E9D0-0A6D-7FE63EE8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61648-FFE9-B4EF-399C-50773D96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1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AFDC7-7FA9-C0C3-E051-4084453B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E2D7C-ECB9-0DA7-3EAB-92D06D6B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204E8-1809-BA46-B386-838B81C7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0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BABF-372B-41A4-341D-65EAA497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2004-B02D-5582-CF92-97C9F9AC0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C5B2-1AB7-53CF-6767-D91F0E331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51C1B-CC3C-0041-95B4-B5F9F9EC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716F9-6DCA-352F-923A-A0DA542F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92520-E5D7-8887-FC33-44D5CE37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B310-4752-D4D7-E19B-ECB16D5C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AED80-FADC-1261-90C2-71CA5316E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6F43E-B14C-608B-3105-BD8F4329C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2D167-F4B4-EC4A-5398-03F836AD5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7346B-5752-791E-01B4-A527EF34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E03B4-BFF2-8682-386E-47782689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3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5EC9-C228-CEE3-BDE3-69538D3D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7774-2D02-B5BB-4E31-D5E1B2BE1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6C43E-BC6C-3717-8F99-5388825B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99ED-33CF-4269-8945-30167227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00E5-F698-0B91-C789-DF7EB70B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63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EE65A-7544-ED56-A1D6-9D54E02C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5B184-6F29-B0D2-8439-74C21C3EA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3039-71E1-8A33-6594-5B82A4B3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A9910-5E16-843F-0674-DEDFEBF0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7393-6032-30FC-321F-437E9D7A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2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0C13E-2E01-1320-15ED-8AA4FF63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3BD94-F8BC-CEA4-A8ED-F4660E6BE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77474-9F71-DFB9-A082-2850D8F33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EEE9A53-7EE4-4541-8C35-C6B44F01BC19}" type="datetimeFigureOut">
              <a:rPr lang="en-IN" smtClean="0"/>
              <a:pPr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D0934-8A72-67CD-AAF9-F11946CC1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3DF6E-2166-4163-CD76-1823BEACC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125B5BF-E2A1-4190-BC02-4F821018AFB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06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avinraja-chakravarthy" TargetMode="External"/><Relationship Id="rId2" Type="http://schemas.openxmlformats.org/officeDocument/2006/relationships/hyperlink" Target="https://github.com/kavinrajachakravarthy/Pressure-Drop-Estimation-in-Pipelin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A783-0263-8793-1114-DC58E00AC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Pressure Drop Estimation in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97487-17AA-A1F7-FD80-2C40EEAE3F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(Analytical Modeling and Validation using MATLAB, Python, Excel, Aspen HYSYS &amp; DWSIM)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77B69-EB8B-5653-840E-01D0C89A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189CB-1393-9162-0DC6-2AA39C34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C08A4B-266A-72AE-BE5F-2FD4E24884B2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0A0DF-0DEE-32AB-F473-EEADEDCE201D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3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2599D-CBEA-6625-FA2B-4FA05CB4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40F8-B476-F8ED-9066-10743437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0FE4FE7-E6C2-5119-28CA-F1C74C654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277473"/>
            <a:ext cx="10387819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Fluid Mechanics Fundamentals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Darcy–Weisbach Equation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Regimes &amp; Friction Factor Models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Pipeline Roughness &amp; Material Selection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US" altLang="en-US" dirty="0"/>
              <a:t>Minor Losses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US" altLang="en-US" dirty="0"/>
              <a:t>Validation with Moody Chart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IN" dirty="0">
                <a:cs typeface="Arial" panose="020B0604020202020204" pitchFamily="34" charset="0"/>
              </a:rPr>
              <a:t>Engineering Methodology &amp; Workflow</a:t>
            </a:r>
            <a:endParaRPr lang="en-US" altLang="en-US" dirty="0"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US" altLang="en-US" dirty="0"/>
              <a:t>Demo Outputs (Python, </a:t>
            </a:r>
            <a:r>
              <a:rPr lang="en-US" altLang="en-US" dirty="0" err="1"/>
              <a:t>Matlab</a:t>
            </a:r>
            <a:r>
              <a:rPr lang="en-US" altLang="en-US" dirty="0"/>
              <a:t>, Excel, DWSIM, Aspen </a:t>
            </a:r>
            <a:r>
              <a:rPr lang="en-US" altLang="en-US" dirty="0" err="1"/>
              <a:t>Hysys</a:t>
            </a:r>
            <a:r>
              <a:rPr lang="en-US" altLang="en-US" dirty="0"/>
              <a:t>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IN" dirty="0">
                <a:cs typeface="Arial" panose="020B0604020202020204" pitchFamily="34" charset="0"/>
              </a:rPr>
              <a:t>Limitations</a:t>
            </a:r>
            <a:endParaRPr lang="en-US" alt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US" altLang="en-US" dirty="0"/>
              <a:t>Summary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000" dirty="0"/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63F38-F806-27B1-FCEC-C24459DD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8E57D-A424-5FB1-C624-6D7E2D48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00E63C-7052-B3C7-DD64-08E7376900F8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8A903-5A8C-0C7A-0044-BE84E033C4BB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24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1F9E2-B1F8-1811-B236-13B05513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8761-96D6-424E-F050-DE900D94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37CDF-1EE7-3A0D-D562-EC90BBD6D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Develop and validate a computational model to estimate pressure drop in pipelines under different flow and material conditions.</a:t>
            </a:r>
          </a:p>
          <a:p>
            <a:pPr marL="0" indent="0">
              <a:buNone/>
            </a:pPr>
            <a:r>
              <a:rPr lang="en-IN" b="1" dirty="0"/>
              <a:t>Engineering Value:</a:t>
            </a:r>
            <a:endParaRPr lang="en-IN" dirty="0"/>
          </a:p>
          <a:p>
            <a:r>
              <a:rPr lang="en-IN" dirty="0"/>
              <a:t>Enables quick estimation before simulation</a:t>
            </a:r>
          </a:p>
          <a:p>
            <a:r>
              <a:rPr lang="en-IN" dirty="0"/>
              <a:t>Useful for pump sizing</a:t>
            </a:r>
          </a:p>
          <a:p>
            <a:r>
              <a:rPr lang="en-IN" dirty="0"/>
              <a:t>Reduces energy consumption</a:t>
            </a:r>
          </a:p>
          <a:p>
            <a:r>
              <a:rPr lang="en-IN" dirty="0"/>
              <a:t>Helps avoid </a:t>
            </a:r>
            <a:r>
              <a:rPr lang="en-IN" dirty="0" err="1"/>
              <a:t>undersizing</a:t>
            </a:r>
            <a:r>
              <a:rPr lang="en-IN" dirty="0"/>
              <a:t>/oversizing during design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4E182-2E16-D6FA-1782-A7A41FDD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B4D68-F1B4-C9CE-276C-D1C6DB43A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29FE0D-B2BE-8B1A-A489-5B6FB348927C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52D9A-415B-0446-A67C-D648B599696F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82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46F80-4145-BB52-5F15-E691EE84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C1CA3B-D7E3-6B13-F4A9-DE52ADA2ECF1}"/>
              </a:ext>
            </a:extLst>
          </p:cNvPr>
          <p:cNvSpPr/>
          <p:nvPr/>
        </p:nvSpPr>
        <p:spPr>
          <a:xfrm>
            <a:off x="5022167" y="4757445"/>
            <a:ext cx="2363370" cy="869632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BD6DA-BF53-5F9F-D431-BF74982C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Fluid Transport Fundamentals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FEA5028-6E84-D665-25B9-CE15BAE9DD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Key Quantities:</a:t>
                </a:r>
                <a:endParaRPr lang="en-IN" dirty="0"/>
              </a:p>
              <a:p>
                <a:r>
                  <a:rPr lang="en-IN" dirty="0"/>
                  <a:t>Flow rate (Q)</a:t>
                </a:r>
              </a:p>
              <a:p>
                <a:r>
                  <a:rPr lang="en-IN" dirty="0"/>
                  <a:t>Cross-sectional area (A)</a:t>
                </a:r>
              </a:p>
              <a:p>
                <a:r>
                  <a:rPr lang="en-IN" dirty="0"/>
                  <a:t>Velocity (v)</a:t>
                </a:r>
              </a:p>
              <a:p>
                <a:r>
                  <a:rPr lang="en-IN" dirty="0"/>
                  <a:t>Density (</a:t>
                </a:r>
                <a:r>
                  <a:rPr lang="el-GR" dirty="0"/>
                  <a:t>ρ)</a:t>
                </a:r>
              </a:p>
              <a:p>
                <a:r>
                  <a:rPr lang="en-IN" dirty="0"/>
                  <a:t>Viscosity (</a:t>
                </a:r>
                <a:r>
                  <a:rPr lang="el-GR" dirty="0"/>
                  <a:t>μ)</a:t>
                </a:r>
              </a:p>
              <a:p>
                <a:r>
                  <a:rPr lang="en-IN" dirty="0"/>
                  <a:t>Pipe diameter (D)</a:t>
                </a:r>
              </a:p>
              <a:p>
                <a:r>
                  <a:rPr lang="en-IN" dirty="0"/>
                  <a:t>Length (L)</a:t>
                </a:r>
              </a:p>
              <a:p>
                <a:pPr marL="0" indent="0">
                  <a:buNone/>
                </a:pPr>
                <a:r>
                  <a:rPr lang="en-IN" b="1" dirty="0"/>
                  <a:t>Formula: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Concept:</a:t>
                </a:r>
                <a:r>
                  <a:rPr lang="en-IN" dirty="0"/>
                  <a:t> Higher velocity increases frictional resistance → higher pressure drop.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FEA5028-6E84-D665-25B9-CE15BAE9D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9DB9EB-AA30-2E7A-19CD-669B1F6F6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4573D-DC7F-03F1-CB29-736DB7E6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6236A7-6A0C-68DD-D4F9-F616BF23CBAF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E9F87-A829-A15B-5542-F71F69281452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1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DBB36-7FE7-18C9-D2FC-73BF9FCB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709588-6377-D73B-6EF4-87FAE6B15B6E}"/>
              </a:ext>
            </a:extLst>
          </p:cNvPr>
          <p:cNvSpPr/>
          <p:nvPr/>
        </p:nvSpPr>
        <p:spPr>
          <a:xfrm>
            <a:off x="2307102" y="1690688"/>
            <a:ext cx="2363370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7B7CC-2446-1904-814D-56093504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Darcy–Weisbach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D781103-281E-9A8F-6EBD-8AC9EB93AE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l-G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Δ</a:t>
                </a: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p= 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⋅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den>
                    </m:f>
                  </m:oMath>
                </a14:m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​⋅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ar-AE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ar-AE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ar-AE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friction factor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pipe length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pipe diameter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velocity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fluid density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D781103-281E-9A8F-6EBD-8AC9EB93A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833932-7D35-65D7-E6F1-E63B00B3C2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  <a:b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Pressure drop is proportional to: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</a:p>
          <a:p>
            <a:r>
              <a:rPr lang="en-IN" sz="3200" dirty="0"/>
              <a:t>Velocity²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Friction factor</a:t>
            </a:r>
          </a:p>
          <a:p>
            <a:pPr marL="0" indent="0">
              <a:buNone/>
            </a:pPr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Inversely proportional to diameter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23A72-E667-0189-0E1E-0F10468F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0AA222-D1C2-120E-4735-802702DBF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C19FEC-6012-1E14-4CAD-5AF8461FDC0A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DE2B7-6C4A-8620-46EF-EAFA7C8F9E13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13281-7D06-700C-3C84-2A9C67F90402}"/>
              </a:ext>
            </a:extLst>
          </p:cNvPr>
          <p:cNvCxnSpPr/>
          <p:nvPr/>
        </p:nvCxnSpPr>
        <p:spPr>
          <a:xfrm>
            <a:off x="5697415" y="1690688"/>
            <a:ext cx="0" cy="4486275"/>
          </a:xfrm>
          <a:prstGeom prst="line">
            <a:avLst/>
          </a:prstGeom>
          <a:ln w="50800" cmpd="sng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73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840A9-904D-6771-DDE1-426DF6FD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F469DA-D948-92E8-1F74-383BE7BDC24B}"/>
              </a:ext>
            </a:extLst>
          </p:cNvPr>
          <p:cNvSpPr/>
          <p:nvPr/>
        </p:nvSpPr>
        <p:spPr>
          <a:xfrm>
            <a:off x="5040924" y="1690688"/>
            <a:ext cx="2363370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EB5AC-DEE3-68C1-4222-F1D5BBDB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Flow Regimes (Reynolds Number)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FAAFD2-EE78-5947-0021-D5D511F1C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Re=</a:t>
                </a:r>
                <a:r>
                  <a:rPr lang="ar-AE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b="1" smtClean="0"/>
                          <m:t>ρ</m:t>
                        </m:r>
                        <m:r>
                          <m:rPr>
                            <m:nor/>
                          </m:rPr>
                          <a:rPr lang="en-IN" b="1" smtClean="0"/>
                          <m:t>vD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b="1" smtClean="0"/>
                          <m:t>μ</m:t>
                        </m:r>
                      </m:den>
                    </m:f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sz="2400" b="1" dirty="0"/>
                  <a:t>Regimes:</a:t>
                </a:r>
                <a:endParaRPr lang="en-US" sz="2400" dirty="0"/>
              </a:p>
              <a:p>
                <a:r>
                  <a:rPr lang="en-US" sz="2400" b="1" dirty="0"/>
                  <a:t>Laminar:</a:t>
                </a:r>
                <a:r>
                  <a:rPr lang="en-US" sz="2400" dirty="0"/>
                  <a:t> Re &lt; 2300</a:t>
                </a:r>
              </a:p>
              <a:p>
                <a:r>
                  <a:rPr lang="en-US" sz="2400" b="1" dirty="0"/>
                  <a:t>Transitional:</a:t>
                </a:r>
                <a:r>
                  <a:rPr lang="en-US" sz="2400" dirty="0"/>
                  <a:t> 2300–4000</a:t>
                </a:r>
              </a:p>
              <a:p>
                <a:r>
                  <a:rPr lang="en-US" sz="2400" b="1" dirty="0"/>
                  <a:t>Turbulent:</a:t>
                </a:r>
                <a:r>
                  <a:rPr lang="en-US" sz="2400" dirty="0"/>
                  <a:t> Re &gt; 4000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Engineering Insight:</a:t>
                </a:r>
                <a:br>
                  <a:rPr lang="en-US" sz="2400" dirty="0"/>
                </a:br>
                <a:r>
                  <a:rPr lang="en-US" sz="2400" dirty="0"/>
                  <a:t>Most industrial flows are turbulent → friction factor depends on </a:t>
                </a:r>
                <a:r>
                  <a:rPr lang="en-US" sz="2400" i="1" dirty="0"/>
                  <a:t>roughness + Re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FAAFD2-EE78-5947-0021-D5D511F1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AECB8D-A2EE-12AA-9F08-464AE1143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22861-EB0C-E84E-844C-6B5C4D2BA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D3B4C-E46C-ABEC-1334-479B0F843C03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251D0-E689-3F9B-6A93-CCBAB2557D46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1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8B2F1-0046-3B5C-42F9-DF893C1A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44A48D-70FE-54BE-0347-844083F49355}"/>
              </a:ext>
            </a:extLst>
          </p:cNvPr>
          <p:cNvSpPr/>
          <p:nvPr/>
        </p:nvSpPr>
        <p:spPr>
          <a:xfrm>
            <a:off x="5071405" y="1561204"/>
            <a:ext cx="2363370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0F195C-507D-B49A-6303-CD744BDC38A2}"/>
              </a:ext>
            </a:extLst>
          </p:cNvPr>
          <p:cNvSpPr/>
          <p:nvPr/>
        </p:nvSpPr>
        <p:spPr>
          <a:xfrm>
            <a:off x="3784210" y="2957403"/>
            <a:ext cx="4628270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FD8BE5-25D6-B022-EF2D-B5CB95C93A63}"/>
              </a:ext>
            </a:extLst>
          </p:cNvPr>
          <p:cNvSpPr/>
          <p:nvPr/>
        </p:nvSpPr>
        <p:spPr>
          <a:xfrm>
            <a:off x="3938955" y="4437698"/>
            <a:ext cx="4628270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76D23-2FAB-6C3C-0687-3CF5986A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Friction Factor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9D405E4-D8E0-5C65-1F44-2885AEDB6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7108"/>
                <a:ext cx="10515600" cy="469985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Laminar Flow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𝟔𝟒</m:t>
                          </m:r>
                        </m:num>
                        <m:den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𝑹𝒆</m:t>
                          </m:r>
                        </m:den>
                      </m:f>
                    </m:oMath>
                  </m:oMathPara>
                </a14:m>
                <a:endParaRPr lang="ar-AE" b="1" dirty="0"/>
              </a:p>
              <a:p>
                <a:pPr marL="0" indent="0">
                  <a:buNone/>
                </a:pPr>
                <a:r>
                  <a:rPr lang="en-IN" b="1" dirty="0"/>
                  <a:t>Turbulent Flow (</a:t>
                </a:r>
                <a:r>
                  <a:rPr lang="en-IN" b="1" dirty="0" err="1"/>
                  <a:t>Swamee</a:t>
                </a:r>
                <a:r>
                  <a:rPr lang="en-IN" b="1" dirty="0"/>
                  <a:t>–Jain)</a:t>
                </a:r>
              </a:p>
              <a:p>
                <a:pPr marL="0" indent="0">
                  <a:buNone/>
                </a:pPr>
                <a:r>
                  <a:rPr lang="en-IN" dirty="0"/>
                  <a:t>Explicit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𝟐𝟓</m:t>
                      </m:r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fNam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e>
                                <m:sub>
                                  <m: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num>
                                    <m:den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den>
                                  </m:f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𝟕𝟒</m:t>
                                      </m:r>
                                    </m:num>
                                    <m:den>
                                      <m: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sSup>
                                        <m:sSupPr>
                                          <m:ctrlPr>
                                            <a:rPr lang="ar-AE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b="1" i="1">
                                              <a:latin typeface="Cambria Math" panose="02040503050406030204" pitchFamily="18" charset="0"/>
                                            </a:rPr>
                                            <m:t>𝒆</m:t>
                                          </m:r>
                                        </m:e>
                                        <m:sup>
                                          <m:r>
                                            <a:rPr lang="ar-AE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ar-AE" b="1" i="1">
                                              <a:latin typeface="Cambria Math" panose="02040503050406030204" pitchFamily="18" charset="0"/>
                                            </a:rPr>
                                            <m:t>𝟗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r-AE" b="1" dirty="0"/>
              </a:p>
              <a:p>
                <a:pPr marL="0" indent="0">
                  <a:buNone/>
                </a:pPr>
                <a:r>
                  <a:rPr lang="en-IN" b="1" dirty="0"/>
                  <a:t>Turbulent Flow (Colebrook Equation)</a:t>
                </a:r>
              </a:p>
              <a:p>
                <a:pPr marL="0" indent="0">
                  <a:buNone/>
                </a:pPr>
                <a:r>
                  <a:rPr lang="en-IN" dirty="0"/>
                  <a:t>Implicit equation (iterative):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rad>
                        </m:den>
                      </m:f>
                      <m:r>
                        <a:rPr lang="ar-AE" b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num>
                            <m:den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den>
                          </m:f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𝟓𝟏</m:t>
                              </m:r>
                            </m:num>
                            <m:den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𝑹𝒆</m:t>
                              </m:r>
                              <m:rad>
                                <m:radPr>
                                  <m:degHide m:val="on"/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ar-AE" b="1" dirty="0"/>
              </a:p>
              <a:p>
                <a:pPr marL="0" indent="0">
                  <a:buNone/>
                </a:pPr>
                <a:r>
                  <a:rPr lang="en-IN" b="1" dirty="0"/>
                  <a:t>Note:</a:t>
                </a:r>
                <a:r>
                  <a:rPr lang="en-IN" dirty="0"/>
                  <a:t> Colebrook is more accurate but requires iteration; </a:t>
                </a:r>
                <a:r>
                  <a:rPr lang="en-IN" dirty="0" err="1"/>
                  <a:t>Swamee</a:t>
                </a:r>
                <a:r>
                  <a:rPr lang="en-IN" dirty="0"/>
                  <a:t>–Jain is explicit and fast.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9D405E4-D8E0-5C65-1F44-2885AEDB6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7108"/>
                <a:ext cx="10515600" cy="4699855"/>
              </a:xfrm>
              <a:blipFill>
                <a:blip r:embed="rId2"/>
                <a:stretch>
                  <a:fillRect l="-754" t="-2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5B72C5-6BFB-CB58-95ED-C62583C6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3A4E9B-3C6C-4BC6-C759-59ED670B1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905CB1-2E1A-B753-B0C8-7B68EC69ADE8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BB340-2B07-788C-FA8A-1108BC1E987E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331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50AD3-38C4-6B36-C03F-C19C8044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F46F-ED68-746C-AA4B-774E4403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Pipe Roughness (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ε)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C7F72-B80D-6C5A-9B36-22674454C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9" y="1871004"/>
            <a:ext cx="10147565" cy="52894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/>
              <a:t>Importance:</a:t>
            </a:r>
            <a:endParaRPr lang="en-US" sz="2400" dirty="0"/>
          </a:p>
          <a:p>
            <a:r>
              <a:rPr lang="en-US" sz="2400" dirty="0"/>
              <a:t>Roughness directly affects turbulent friction → huge impact on pressure drop.</a:t>
            </a:r>
          </a:p>
          <a:p>
            <a:r>
              <a:rPr lang="en-US" sz="2400" dirty="0"/>
              <a:t>Roughness has negligible effect in laminar flow but significantly increases pressure drop in turbulent flow.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5D3E9-0D5D-FAEE-B6BC-5E322395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1B7B24-A7F0-253A-63FC-18DA041F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9E0451-BFF2-F3FA-1BF0-29C6AD0584D3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9F323-671E-A0B6-596E-7D4E3A5FE8DB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A9B11E-3C0B-606B-9689-5679BF61E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27975"/>
              </p:ext>
            </p:extLst>
          </p:nvPr>
        </p:nvGraphicFramePr>
        <p:xfrm>
          <a:off x="838200" y="1406769"/>
          <a:ext cx="10515600" cy="34747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511253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00173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93606672"/>
                    </a:ext>
                  </a:extLst>
                </a:gridCol>
              </a:tblGrid>
              <a:tr h="42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</a:rPr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b="1" dirty="0">
                          <a:latin typeface="Arial" panose="020B0604020202020204" pitchFamily="34" charset="0"/>
                        </a:rPr>
                        <a:t>ε (</a:t>
                      </a:r>
                      <a:r>
                        <a:rPr lang="en-IN" sz="2400" b="1" dirty="0"/>
                        <a:t>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</a:rPr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692666"/>
                  </a:ext>
                </a:extLst>
              </a:tr>
              <a:tr h="42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PVC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1.5e-6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Smooth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409700"/>
                  </a:ext>
                </a:extLst>
              </a:tr>
              <a:tr h="42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Copper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1.5e-6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Very smooth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383431"/>
                  </a:ext>
                </a:extLst>
              </a:tr>
              <a:tr h="762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Stainless Steel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4.5e-5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Standard engineering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746485"/>
                  </a:ext>
                </a:extLst>
              </a:tr>
              <a:tr h="762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Commercial Steel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4.5e-5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Used widely in industries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14743"/>
                  </a:ext>
                </a:extLst>
              </a:tr>
              <a:tr h="42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Concrete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3e-3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</a:rPr>
                        <a:t>Very rough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342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32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4EEBE-67C9-06D2-F1D3-A708942F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833423-63E1-A5EB-53EB-98C8F6019C69}"/>
              </a:ext>
            </a:extLst>
          </p:cNvPr>
          <p:cNvSpPr/>
          <p:nvPr/>
        </p:nvSpPr>
        <p:spPr>
          <a:xfrm>
            <a:off x="4811151" y="1690688"/>
            <a:ext cx="2593143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080AF-B6DA-0843-DA43-FFA2FC43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Minor Losses (K-values)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E11C12-DCBB-AB96-528B-2FA103C40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l-GR" b="1" dirty="0"/>
                  <a:t>Δ</a:t>
                </a:r>
                <a:r>
                  <a:rPr lang="en-IN" b="1" dirty="0" err="1"/>
                  <a:t>p</a:t>
                </a:r>
                <a:r>
                  <a:rPr lang="en-IN" b="1" baseline="-25000" dirty="0" err="1"/>
                  <a:t>minor</a:t>
                </a:r>
                <a:r>
                  <a:rPr lang="en-IN" b="1" dirty="0"/>
                  <a:t>​=K⋅​</a:t>
                </a:r>
                <a:r>
                  <a:rPr lang="ar-AE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𝝆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sz="2400" b="1" dirty="0"/>
                  <a:t>Engineer Tip:</a:t>
                </a:r>
                <a:br>
                  <a:rPr lang="en-US" sz="2400" dirty="0"/>
                </a:br>
                <a:r>
                  <a:rPr lang="en-US" sz="2400" dirty="0"/>
                  <a:t>In short pipelines, minor losses can exceed frictional losses → never ignore.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E11C12-DCBB-AB96-528B-2FA103C40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C29CC61-F109-B155-0058-B8EDEC586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B3194-B59A-7E4B-0854-35D756BFF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F76DCA-6BAE-CB40-CE8D-F0BDDF18CEE9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F8F12-7862-8CF8-A91C-DEBEEFCDD360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4E336E-3256-3CCA-C183-FD61EC326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936032"/>
              </p:ext>
            </p:extLst>
          </p:nvPr>
        </p:nvGraphicFramePr>
        <p:xfrm>
          <a:off x="838200" y="2700996"/>
          <a:ext cx="10515600" cy="240557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613724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90846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7640919"/>
                    </a:ext>
                  </a:extLst>
                </a:gridCol>
              </a:tblGrid>
              <a:tr h="48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474267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90° Bend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in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227688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 Valve (open)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448116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Sudden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760375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Sharp-edged entry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96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69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B75AA-B415-AB07-89C7-8F4C10C8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FB5BA4-E9BE-A3BA-28C1-BB10FFE6B573}"/>
              </a:ext>
            </a:extLst>
          </p:cNvPr>
          <p:cNvSpPr/>
          <p:nvPr/>
        </p:nvSpPr>
        <p:spPr>
          <a:xfrm>
            <a:off x="3770142" y="2225260"/>
            <a:ext cx="4529795" cy="86963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5D774-E1BC-8804-F782-FA52448A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Total Pressure Drop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93784-824F-C4FD-B6B3-9326A996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477"/>
            <a:ext cx="10515600" cy="4207486"/>
          </a:xfrm>
        </p:spPr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 err="1"/>
              <a:t>Δp</a:t>
            </a:r>
            <a:r>
              <a:rPr lang="en-US" b="1" baseline="-25000" dirty="0" err="1"/>
              <a:t>total</a:t>
            </a:r>
            <a:r>
              <a:rPr lang="en-US" b="1" dirty="0"/>
              <a:t>​=</a:t>
            </a:r>
            <a:r>
              <a:rPr lang="en-US" b="1" dirty="0" err="1"/>
              <a:t>Δp</a:t>
            </a:r>
            <a:r>
              <a:rPr lang="en-US" b="1" baseline="-25000" dirty="0" err="1"/>
              <a:t>friction</a:t>
            </a:r>
            <a:r>
              <a:rPr lang="en-US" b="1" dirty="0"/>
              <a:t>​+</a:t>
            </a:r>
            <a:r>
              <a:rPr lang="en-US" b="1" dirty="0" err="1"/>
              <a:t>Δp</a:t>
            </a:r>
            <a:r>
              <a:rPr lang="en-US" b="1" baseline="-25000" dirty="0" err="1"/>
              <a:t>minor</a:t>
            </a:r>
            <a:r>
              <a:rPr lang="en-US" b="1" dirty="0"/>
              <a:t>​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Combine both effects for accurate design.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5A455-554C-24C4-A02D-8470E2F6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03AA3-BF9B-5A8C-1E07-43D3FAEE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0B12A5-BC6A-16C6-E49A-ADC076ACAAC2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299F2-26C8-0118-EB98-0EC530D2E777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1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3297F-978C-CABA-056C-D666656A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1616-7C2A-F253-8285-18810A63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Validation with Moody 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A41AD7-48FD-8628-02B1-8043D27D7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14526"/>
            <a:ext cx="10775852" cy="4806830"/>
          </a:xfrm>
          <a:solidFill>
            <a:schemeClr val="bg1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BC97AF-9951-8EE6-1E43-BB7A96FCB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039FA3-AC78-A00E-ED26-B40E41E93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4D107A-2563-7184-D44E-D9F76AAC96EE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1D5AF-F7A0-7CE6-A800-B28BA0D33A7F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15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78F50-9E46-AAC6-709B-5C613E37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5324D5-8D7E-1A3B-D155-777319A69051}"/>
              </a:ext>
            </a:extLst>
          </p:cNvPr>
          <p:cNvSpPr/>
          <p:nvPr/>
        </p:nvSpPr>
        <p:spPr>
          <a:xfrm>
            <a:off x="7471449" y="1790914"/>
            <a:ext cx="1306792" cy="44760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0ADF96-C626-5D08-D88B-4C0A38470A44}"/>
              </a:ext>
            </a:extLst>
          </p:cNvPr>
          <p:cNvSpPr/>
          <p:nvPr/>
        </p:nvSpPr>
        <p:spPr>
          <a:xfrm>
            <a:off x="5022167" y="1841006"/>
            <a:ext cx="1913205" cy="44760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247CE1-E004-613C-F3FF-B527C4E31D2D}"/>
              </a:ext>
            </a:extLst>
          </p:cNvPr>
          <p:cNvSpPr/>
          <p:nvPr/>
        </p:nvSpPr>
        <p:spPr>
          <a:xfrm>
            <a:off x="3291840" y="1810661"/>
            <a:ext cx="1194250" cy="44760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B7C99-A5DD-CEF0-54CC-92812EDD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Engineering Algorithm &amp; Computational Workflow(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Python,Matlab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B563F-F295-3FB7-47F2-E7F4AF93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006"/>
            <a:ext cx="10515600" cy="45905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/>
              <a:t>Inputs  →  Calculations  →  Outputs</a:t>
            </a:r>
            <a:endParaRPr lang="en-IN" sz="2400" dirty="0"/>
          </a:p>
          <a:p>
            <a:r>
              <a:rPr lang="en-IN" sz="2400" dirty="0"/>
              <a:t>Input: Q, D, L, </a:t>
            </a:r>
            <a:r>
              <a:rPr lang="el-GR" sz="2400" dirty="0"/>
              <a:t>ρ, μ, ε, </a:t>
            </a:r>
            <a:r>
              <a:rPr lang="en-IN" sz="2400" dirty="0"/>
              <a:t>K-list</a:t>
            </a:r>
          </a:p>
          <a:p>
            <a:r>
              <a:rPr lang="en-IN" sz="2400" dirty="0"/>
              <a:t>Compute A</a:t>
            </a:r>
          </a:p>
          <a:p>
            <a:r>
              <a:rPr lang="en-IN" sz="2400" dirty="0"/>
              <a:t>Compute v</a:t>
            </a:r>
          </a:p>
          <a:p>
            <a:r>
              <a:rPr lang="en-IN" sz="2400" dirty="0"/>
              <a:t>Compute Re</a:t>
            </a:r>
          </a:p>
          <a:p>
            <a:r>
              <a:rPr lang="en-IN" sz="2400" dirty="0"/>
              <a:t>Determine flow regime</a:t>
            </a:r>
          </a:p>
          <a:p>
            <a:r>
              <a:rPr lang="en-IN" sz="2400" dirty="0"/>
              <a:t>Compute f (laminar / </a:t>
            </a:r>
            <a:r>
              <a:rPr lang="en-IN" sz="2400" dirty="0" err="1"/>
              <a:t>Swamee</a:t>
            </a:r>
            <a:r>
              <a:rPr lang="en-IN" sz="2400" dirty="0"/>
              <a:t>–Jain / Colebrook)</a:t>
            </a:r>
          </a:p>
          <a:p>
            <a:r>
              <a:rPr lang="en-IN" sz="2400" dirty="0"/>
              <a:t>Compute </a:t>
            </a:r>
            <a:r>
              <a:rPr lang="el-GR" sz="2400" dirty="0"/>
              <a:t>Δ</a:t>
            </a:r>
            <a:r>
              <a:rPr lang="en-IN" sz="2400" dirty="0" err="1"/>
              <a:t>p</a:t>
            </a:r>
            <a:r>
              <a:rPr lang="en-IN" sz="2400" baseline="-25000" dirty="0" err="1"/>
              <a:t>friction</a:t>
            </a:r>
            <a:endParaRPr lang="en-IN" sz="2400" baseline="-25000" dirty="0"/>
          </a:p>
          <a:p>
            <a:r>
              <a:rPr lang="en-IN" sz="2400" dirty="0"/>
              <a:t>Compute </a:t>
            </a:r>
            <a:r>
              <a:rPr lang="el-GR" sz="2400" dirty="0"/>
              <a:t>Δ</a:t>
            </a:r>
            <a:r>
              <a:rPr lang="en-IN" sz="2400" dirty="0" err="1"/>
              <a:t>p</a:t>
            </a:r>
            <a:r>
              <a:rPr lang="en-IN" sz="2400" baseline="-25000" dirty="0" err="1"/>
              <a:t>minor</a:t>
            </a:r>
            <a:endParaRPr lang="en-IN" sz="2400" baseline="-25000" dirty="0"/>
          </a:p>
          <a:p>
            <a:r>
              <a:rPr lang="en-IN" sz="2400" dirty="0"/>
              <a:t>Output results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BCFF7-90A0-062B-52A9-FC7C9BF3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A2426-CEF0-EF83-884E-513461DF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EEE272-6FF2-4882-7DEC-D6DCB507B577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ED534-F2BD-93BF-5D1E-74D81A8FF6B8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39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DCCF0-FAA4-8817-22F2-DC99CF1E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1D36-BC9E-501B-958B-4AE57FAB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Python Demo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21B4D-D256-49A6-BA83-EC89CC5F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59FA6-8E72-D14B-1112-7171EB6C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98A55D-BEC1-82DE-3A50-C8BB94BC9086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2ADEB-3C3A-B8AA-F45D-E1EFD8542F9D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63E929A-5899-3EC2-5CF8-3BE013BB8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7186" r="15889" b="7656"/>
          <a:stretch>
            <a:fillRect/>
          </a:stretch>
        </p:blipFill>
        <p:spPr>
          <a:xfrm>
            <a:off x="2855742" y="1418318"/>
            <a:ext cx="5908430" cy="4798096"/>
          </a:xfrm>
        </p:spPr>
      </p:pic>
    </p:spTree>
    <p:extLst>
      <p:ext uri="{BB962C8B-B14F-4D97-AF65-F5344CB8AC3E}">
        <p14:creationId xmlns:p14="http://schemas.microsoft.com/office/powerpoint/2010/main" val="3252025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8CF70-0DF6-59D7-B225-711E12BA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7B69-8C8F-3A9E-C0A1-CAF87EEF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Demo Outputs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EB34FA-6584-A7DE-4062-78EABD31A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38" b="28802"/>
          <a:stretch>
            <a:fillRect/>
          </a:stretch>
        </p:blipFill>
        <p:spPr>
          <a:xfrm>
            <a:off x="2996418" y="1484312"/>
            <a:ext cx="5697416" cy="4520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D5A851-D59B-5BF3-D182-E7280EAED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396AD-1DC5-57FC-B85A-30659AFEC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040F96-45D4-DDD3-253E-C054C9DCD6FF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06C7B-446E-09BC-A509-2FA6F5DE7096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50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618B4-2094-0BC4-1033-A07EF36B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E05B-AB15-3943-6EEF-54B9276A4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Excel Demo Outputs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AA8B93-ECBB-203F-E35D-2196E38E5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0" t="7186" r="7613" b="25569"/>
          <a:stretch>
            <a:fillRect/>
          </a:stretch>
        </p:blipFill>
        <p:spPr>
          <a:xfrm>
            <a:off x="838200" y="1547445"/>
            <a:ext cx="10148667" cy="440996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B7D053-5BD1-A1F0-A786-899209D5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CAA5C-B080-A22E-30EE-35587DB7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F8FEEF-13B3-4BE2-89F1-CFF03480CE1A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58A53-820A-2D36-FD43-80E0ACFE683D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97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CD36F-939F-532D-1266-54D5215B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0F14-B170-E87C-DFFB-E1D4ED23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DWSIM Outputs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8B1F7A-ABE3-B653-6B82-226D47395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1" t="21411" r="25704" b="11667"/>
          <a:stretch>
            <a:fillRect/>
          </a:stretch>
        </p:blipFill>
        <p:spPr>
          <a:xfrm>
            <a:off x="1899138" y="1533378"/>
            <a:ext cx="7695027" cy="431043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6CE527-B7E2-5DEA-88A0-C5D200065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2F2F2-7509-20C6-7853-97876F123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9D96B0-6A51-3A40-6A2D-74535FCBF398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A9824-42E9-00A7-2BC7-44C0EC3F8DC7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6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436D5-8D58-5076-304A-9F60B79E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5B7D-32EC-BFE4-D477-3DDA98EE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Aspen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Hysys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Outputs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09CE9C-47E4-0D83-4C65-57ADF6A6C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7" t="28523" r="34429" b="32358"/>
          <a:stretch>
            <a:fillRect/>
          </a:stretch>
        </p:blipFill>
        <p:spPr>
          <a:xfrm>
            <a:off x="1631852" y="1800993"/>
            <a:ext cx="8482817" cy="404974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3A079A-56B5-A9A9-4428-689FC9DB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CF3281-3D85-1691-4896-EA7EFEDDC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AB0A42-5136-A6EC-F947-78D4FC0FFFBA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C8B1B-C669-89CF-3781-12DB3B29BAB1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05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778CB-4846-298A-19E7-98856AD8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07D3-131E-BBCD-2609-68C3C561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657B8-1A97-6C0C-BCB9-287EF40E7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Assumes incompressible flow</a:t>
            </a:r>
          </a:p>
          <a:p>
            <a:r>
              <a:rPr lang="en-US" dirty="0"/>
              <a:t>Single pipe only (no network)</a:t>
            </a:r>
          </a:p>
          <a:p>
            <a:r>
              <a:rPr lang="en-US" dirty="0"/>
              <a:t>No temperature correction for fluid properties</a:t>
            </a:r>
          </a:p>
          <a:p>
            <a:r>
              <a:rPr lang="en-US" dirty="0"/>
              <a:t>Transitional flow not modeled accurately</a:t>
            </a:r>
          </a:p>
          <a:p>
            <a:r>
              <a:rPr lang="en-US" dirty="0"/>
              <a:t>Roughness constant (no aging/scaling)</a:t>
            </a:r>
          </a:p>
          <a:p>
            <a:r>
              <a:rPr lang="en-IN" dirty="0"/>
              <a:t>Assumes steady-state, single-phase flow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37FEF-30C1-34CB-A640-105C9EAD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000BE5-312E-DA62-1CA0-3055C445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E5D528-465E-0292-3F24-8B2AF9EF4772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D8DF08-7DB5-8CCF-C3E3-8A6D4CC5367C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195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7E91D-2653-5153-474F-5CC0474A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85E6-5F70-702C-C74F-69735838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AE68D-DB8F-6CCD-D93D-8FDF6297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Darcy–Weisbach provides reliable pressure drop estimation</a:t>
            </a:r>
          </a:p>
          <a:p>
            <a:pPr>
              <a:lnSpc>
                <a:spcPct val="100000"/>
              </a:lnSpc>
            </a:pPr>
            <a:r>
              <a:rPr lang="en-US" dirty="0"/>
              <a:t>Friction factor selection is critical and regime-dependent</a:t>
            </a:r>
          </a:p>
          <a:p>
            <a:pPr>
              <a:lnSpc>
                <a:spcPct val="100000"/>
              </a:lnSpc>
            </a:pPr>
            <a:r>
              <a:rPr lang="en-US" dirty="0"/>
              <a:t>Analytical results were validated using multiple software tools</a:t>
            </a:r>
          </a:p>
          <a:p>
            <a:pPr>
              <a:lnSpc>
                <a:spcPct val="100000"/>
              </a:lnSpc>
            </a:pPr>
            <a:r>
              <a:rPr lang="en-US" dirty="0"/>
              <a:t>The project demonstrates strong fundamentals in fluid mechanics and process simulation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8F144-05C3-4571-A2B9-620B1BC91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3A620-62C5-88CD-32F8-625744307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DCAEAA-FFBB-7CC1-3548-7FC9286D9CD8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0DAF6-46D9-4E0C-799F-FA5AF12CA2B5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41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65A0A-969B-5786-4651-7B4B5A0F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E13C-C84C-98EC-CAF7-A50A0931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EE471-5760-3C7F-9562-63AE24092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566"/>
            <a:ext cx="10515600" cy="481239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GitHub Repository: </a:t>
            </a:r>
            <a:r>
              <a:rPr lang="en-US" sz="2000" b="1" dirty="0">
                <a:hlinkClick r:id="rId2"/>
              </a:rPr>
              <a:t>https://github.com/kavinrajachakravarthy/Pressure-Drop-Estimation-in-Pipelines</a:t>
            </a:r>
            <a:endParaRPr lang="en-US" sz="2000" b="1" dirty="0"/>
          </a:p>
          <a:p>
            <a:pPr marL="0" indent="0">
              <a:lnSpc>
                <a:spcPct val="100000"/>
              </a:lnSpc>
              <a:buNone/>
            </a:pPr>
            <a:br>
              <a:rPr lang="en-US" sz="2000" b="1" dirty="0"/>
            </a:br>
            <a:r>
              <a:rPr lang="en-US" sz="2000" b="1" dirty="0" err="1"/>
              <a:t>linkedin</a:t>
            </a:r>
            <a:r>
              <a:rPr lang="en-US" sz="2000" b="1" dirty="0"/>
              <a:t>: </a:t>
            </a:r>
            <a:r>
              <a:rPr lang="en-US" sz="2000" b="1" dirty="0">
                <a:hlinkClick r:id="rId3"/>
              </a:rPr>
              <a:t>https://www.linkedin.com/in/kavinraja-chakravarthy</a:t>
            </a: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6000" b="1" dirty="0"/>
              <a:t>Thank You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CB177-216C-C9FD-93AB-9AFFB19D6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762258-75EF-FC16-D2C9-F0BD24696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58E0F2-858A-3D7D-5C5F-9A2B382CDA76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38559-4B5D-8752-02CA-A4B4AA2B9D40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9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719</Words>
  <Application>Microsoft Office PowerPoint</Application>
  <PresentationFormat>Widescreen</PresentationFormat>
  <Paragraphs>192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 Light</vt:lpstr>
      <vt:lpstr>Cambria Math</vt:lpstr>
      <vt:lpstr>Office Theme</vt:lpstr>
      <vt:lpstr>Pressure Drop Estimation in Pipelines</vt:lpstr>
      <vt:lpstr>Agenda</vt:lpstr>
      <vt:lpstr>Problem Statement</vt:lpstr>
      <vt:lpstr>Fluid Transport Fundamentals</vt:lpstr>
      <vt:lpstr>Darcy–Weisbach Equation</vt:lpstr>
      <vt:lpstr>Flow Regimes (Reynolds Number)</vt:lpstr>
      <vt:lpstr>Friction Factor Models</vt:lpstr>
      <vt:lpstr>Pipe Roughness (ε) Values</vt:lpstr>
      <vt:lpstr>Minor Losses (K-values)</vt:lpstr>
      <vt:lpstr>Total Pressure Drop</vt:lpstr>
      <vt:lpstr>Validation with Moody Chart</vt:lpstr>
      <vt:lpstr>Engineering Algorithm &amp; Computational Workflow(Python,Matlab)</vt:lpstr>
      <vt:lpstr>Python Demo Outputs</vt:lpstr>
      <vt:lpstr>Matlab Demo Outputs</vt:lpstr>
      <vt:lpstr>Excel Demo Outputs</vt:lpstr>
      <vt:lpstr>DWSIM Outputs</vt:lpstr>
      <vt:lpstr>Aspen Hysys Outputs</vt:lpstr>
      <vt:lpstr>Limitations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kavinraja chakravarthy E</dc:creator>
  <cp:lastModifiedBy>kavinraja chakravarthy E</cp:lastModifiedBy>
  <cp:revision>2</cp:revision>
  <dcterms:created xsi:type="dcterms:W3CDTF">2025-12-11T13:22:07Z</dcterms:created>
  <dcterms:modified xsi:type="dcterms:W3CDTF">2025-12-14T15:23:45Z</dcterms:modified>
</cp:coreProperties>
</file>